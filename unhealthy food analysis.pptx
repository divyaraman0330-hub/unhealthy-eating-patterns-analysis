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jx7oS+1Fra4QZ+Oa2lLtxH3PHi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74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09" name="Google Shape;109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26" name="Google Shape;126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43" name="Google Shape;143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61" name="Google Shape;161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00" name="Google Shape;200;p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765650" y="3771900"/>
            <a:ext cx="17235300" cy="5465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4844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50" b="0" i="0" u="none" strike="noStrike" cap="none" dirty="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50" b="0" i="0" u="none" strike="noStrike" cap="none" dirty="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 dirty="0">
                <a:solidFill>
                  <a:srgbClr val="17365D"/>
                </a:solidFill>
                <a:latin typeface="+mn-lt"/>
                <a:ea typeface="Cambria"/>
                <a:cs typeface="Cambria"/>
                <a:sym typeface="Cambria"/>
              </a:rPr>
              <a:t>Problem Statement Title: </a:t>
            </a:r>
            <a:r>
              <a:rPr lang="en-US" sz="3450" dirty="0">
                <a:solidFill>
                  <a:srgbClr val="17365D"/>
                </a:solidFill>
                <a:latin typeface="+mn-lt"/>
                <a:ea typeface="Cambria"/>
                <a:cs typeface="Cambria"/>
                <a:sym typeface="Cambria"/>
              </a:rPr>
              <a:t>High-Risk Age Groups: Unhealthy Eating Analysis</a:t>
            </a:r>
            <a:endParaRPr sz="3450" b="0" i="0" u="none" strike="noStrike" cap="none" dirty="0">
              <a:solidFill>
                <a:srgbClr val="17365D"/>
              </a:solidFill>
              <a:latin typeface="+mn-lt"/>
              <a:ea typeface="Cambria"/>
              <a:cs typeface="Cambria"/>
              <a:sym typeface="Cambria"/>
            </a:endParaRPr>
          </a:p>
          <a:p>
            <a:pPr lvl="0" algn="just">
              <a:lnSpc>
                <a:spcPct val="200000"/>
              </a:lnSpc>
            </a:pPr>
            <a:r>
              <a:rPr lang="en-US" sz="3450" b="1" i="0" u="none" strike="noStrike" cap="none" dirty="0">
                <a:solidFill>
                  <a:srgbClr val="17365D"/>
                </a:solidFill>
                <a:latin typeface="+mn-lt"/>
                <a:ea typeface="Cambria"/>
                <a:cs typeface="Cambria"/>
                <a:sym typeface="Cambria"/>
              </a:rPr>
              <a:t>Team Name:</a:t>
            </a:r>
            <a:r>
              <a:rPr lang="en-US" sz="3450" b="0" i="0" u="none" strike="noStrike" cap="none" dirty="0">
                <a:solidFill>
                  <a:srgbClr val="17365D"/>
                </a:solidFill>
                <a:latin typeface="+mn-lt"/>
                <a:ea typeface="Cambria"/>
                <a:cs typeface="Cambria"/>
                <a:sym typeface="Cambria"/>
              </a:rPr>
              <a:t> Data Alchemists</a:t>
            </a:r>
            <a:endParaRPr dirty="0">
              <a:latin typeface="+mn-lt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 dirty="0">
                <a:solidFill>
                  <a:srgbClr val="17365D"/>
                </a:solidFill>
                <a:latin typeface="+mn-lt"/>
                <a:ea typeface="Cambria"/>
                <a:cs typeface="Cambria"/>
                <a:sym typeface="Cambria"/>
              </a:rPr>
              <a:t>Institute Name:</a:t>
            </a:r>
            <a:r>
              <a:rPr lang="en-US" sz="3450" b="0" i="0" u="none" strike="noStrike" cap="none" dirty="0">
                <a:solidFill>
                  <a:srgbClr val="17365D"/>
                </a:solidFill>
                <a:latin typeface="+mn-lt"/>
                <a:ea typeface="Cambria"/>
                <a:cs typeface="Cambria"/>
                <a:sym typeface="Cambria"/>
              </a:rPr>
              <a:t> Sri Krishna Ad</a:t>
            </a:r>
            <a:r>
              <a:rPr lang="en-US" sz="3450" dirty="0">
                <a:solidFill>
                  <a:srgbClr val="17365D"/>
                </a:solidFill>
                <a:latin typeface="+mn-lt"/>
                <a:ea typeface="Cambria"/>
                <a:cs typeface="Cambria"/>
                <a:sym typeface="Cambria"/>
              </a:rPr>
              <a:t>ithya College Of Arts And Science</a:t>
            </a:r>
            <a:endParaRPr dirty="0">
              <a:latin typeface="+mn-lt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-40147" y="9624545"/>
            <a:ext cx="18302747" cy="862757"/>
            <a:chOff x="-3884" y="-66675"/>
            <a:chExt cx="4820477" cy="227228"/>
          </a:xfrm>
        </p:grpSpPr>
        <p:sp>
          <p:nvSpPr>
            <p:cNvPr id="94" name="Google Shape;94;p1"/>
            <p:cNvSpPr/>
            <p:nvPr/>
          </p:nvSpPr>
          <p:spPr>
            <a:xfrm>
              <a:off x="-3884" y="-33338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B53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"/>
          <p:cNvSpPr txBox="1"/>
          <p:nvPr/>
        </p:nvSpPr>
        <p:spPr>
          <a:xfrm>
            <a:off x="838200" y="2745875"/>
            <a:ext cx="17235300" cy="257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7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DATATHON ’26</a:t>
            </a:r>
            <a:endParaRPr dirty="0"/>
          </a:p>
          <a:p>
            <a:pPr marL="0" marR="0" lvl="0" indent="0" algn="ctr" rtl="0">
              <a:lnSpc>
                <a:spcPct val="157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29-01-2026</a:t>
            </a:r>
            <a:endParaRPr dirty="0"/>
          </a:p>
          <a:p>
            <a:pPr marL="0" marR="0" lvl="0" indent="0" algn="ctr" rtl="0">
              <a:lnSpc>
                <a:spcPct val="157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Basic Details of the Team and Problem Statement</a:t>
            </a:r>
            <a:endParaRPr dirty="0"/>
          </a:p>
        </p:txBody>
      </p:sp>
      <p:sp>
        <p:nvSpPr>
          <p:cNvPr id="97" name="Google Shape;97;p1"/>
          <p:cNvSpPr txBox="1"/>
          <p:nvPr/>
        </p:nvSpPr>
        <p:spPr>
          <a:xfrm>
            <a:off x="6553200" y="9825354"/>
            <a:ext cx="93472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8991599" y="4991099"/>
            <a:ext cx="6923547" cy="6923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5800" y="527357"/>
            <a:ext cx="8458200" cy="1946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0" y="289831"/>
            <a:ext cx="20574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10892502" y="723455"/>
            <a:ext cx="2213897" cy="2213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8991600" y="4991100"/>
            <a:ext cx="1900902" cy="190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664306" y="286885"/>
            <a:ext cx="2336617" cy="2332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112;p2"/>
          <p:cNvCxnSpPr/>
          <p:nvPr/>
        </p:nvCxnSpPr>
        <p:spPr>
          <a:xfrm rot="-10723699" flipH="1">
            <a:off x="1030421" y="1842881"/>
            <a:ext cx="10245457" cy="268855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2"/>
          <p:cNvSpPr txBox="1"/>
          <p:nvPr/>
        </p:nvSpPr>
        <p:spPr>
          <a:xfrm>
            <a:off x="1028698" y="920561"/>
            <a:ext cx="10401301" cy="88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DATASET OVERVIEW AND SOURCING</a:t>
            </a:r>
            <a:endParaRPr dirty="0"/>
          </a:p>
        </p:txBody>
      </p:sp>
      <p:sp>
        <p:nvSpPr>
          <p:cNvPr id="114" name="Google Shape;114;p2"/>
          <p:cNvSpPr txBox="1"/>
          <p:nvPr/>
        </p:nvSpPr>
        <p:spPr>
          <a:xfrm>
            <a:off x="17192775" y="9647168"/>
            <a:ext cx="784800" cy="38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grpSp>
        <p:nvGrpSpPr>
          <p:cNvPr id="115" name="Google Shape;115;p2"/>
          <p:cNvGrpSpPr/>
          <p:nvPr/>
        </p:nvGrpSpPr>
        <p:grpSpPr>
          <a:xfrm>
            <a:off x="0" y="9504386"/>
            <a:ext cx="18288000" cy="862757"/>
            <a:chOff x="0" y="-66675"/>
            <a:chExt cx="4816593" cy="227228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B53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2"/>
          <p:cNvSpPr txBox="1"/>
          <p:nvPr/>
        </p:nvSpPr>
        <p:spPr>
          <a:xfrm>
            <a:off x="6553200" y="9659868"/>
            <a:ext cx="9144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pic>
        <p:nvPicPr>
          <p:cNvPr id="119" name="Google Shape;119;p2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7738" y="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/>
          <p:nvPr/>
        </p:nvSpPr>
        <p:spPr>
          <a:xfrm>
            <a:off x="606298" y="2345302"/>
            <a:ext cx="16072200" cy="590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 b="1" u="sng" dirty="0">
                <a:solidFill>
                  <a:schemeClr val="dk1"/>
                </a:solidFill>
                <a:latin typeface="+mj-lt"/>
              </a:rPr>
              <a:t>Dataset Overview:</a:t>
            </a:r>
          </a:p>
          <a:p>
            <a:pPr marL="0" lvl="0" indent="0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3000" b="1" u="sng" dirty="0">
              <a:solidFill>
                <a:schemeClr val="dk1"/>
              </a:solidFill>
              <a:latin typeface="+mj-lt"/>
            </a:endParaRPr>
          </a:p>
          <a:p>
            <a:pPr marL="0" lvl="0" indent="0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3000" b="1" u="sng" dirty="0">
                <a:solidFill>
                  <a:schemeClr val="dk1"/>
                </a:solidFill>
                <a:latin typeface="+mj-lt"/>
              </a:rPr>
            </a:br>
            <a:r>
              <a:rPr lang="en-US" sz="2900" dirty="0">
                <a:solidFill>
                  <a:schemeClr val="dk1"/>
                </a:solidFill>
                <a:latin typeface="+mj-lt"/>
              </a:rPr>
              <a:t> </a:t>
            </a:r>
          </a:p>
          <a:p>
            <a:pPr marL="0" lvl="0" indent="0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3000" b="1" u="sng" dirty="0">
              <a:solidFill>
                <a:schemeClr val="dk1"/>
              </a:solidFill>
              <a:latin typeface="+mj-lt"/>
            </a:endParaRPr>
          </a:p>
          <a:p>
            <a:pPr marL="0" lvl="0" indent="0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u="sng" dirty="0">
                <a:solidFill>
                  <a:schemeClr val="dk1"/>
                </a:solidFill>
                <a:latin typeface="+mj-lt"/>
              </a:rPr>
              <a:t>Data Source:</a:t>
            </a:r>
            <a:br>
              <a:rPr lang="en-US" sz="2900" b="1" dirty="0">
                <a:solidFill>
                  <a:schemeClr val="dk1"/>
                </a:solidFill>
                <a:latin typeface="+mj-lt"/>
              </a:rPr>
            </a:br>
            <a:r>
              <a:rPr lang="en-US" sz="2900" dirty="0">
                <a:solidFill>
                  <a:schemeClr val="dk1"/>
                </a:solidFill>
              </a:rPr>
              <a:t> </a:t>
            </a:r>
            <a:endParaRPr sz="2900" dirty="0">
              <a:solidFill>
                <a:schemeClr val="dk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5FB6B3-3AE4-0C11-7CEA-0E74B1333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348" y="3321309"/>
            <a:ext cx="13406283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+mn-lt"/>
              </a:rPr>
              <a:t>Demographic attributes:</a:t>
            </a:r>
            <a:r>
              <a:rPr lang="en-US" altLang="en-US" sz="2800" dirty="0">
                <a:solidFill>
                  <a:schemeClr val="tx1"/>
                </a:solidFill>
                <a:latin typeface="+mn-lt"/>
              </a:rPr>
              <a:t> Age, Gender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+mn-lt"/>
              </a:rPr>
              <a:t>Dietary indicators</a:t>
            </a:r>
            <a:r>
              <a:rPr lang="en-US" altLang="en-US" sz="2800" dirty="0">
                <a:solidFill>
                  <a:schemeClr val="tx1"/>
                </a:solidFill>
                <a:latin typeface="+mn-lt"/>
              </a:rPr>
              <a:t>: High-calorie food consumption, frequency of vegetable intake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+mn-lt"/>
              </a:rPr>
              <a:t>Lifestyle indicators</a:t>
            </a:r>
            <a:r>
              <a:rPr lang="en-US" altLang="en-US" sz="2800" dirty="0">
                <a:solidFill>
                  <a:schemeClr val="tx1"/>
                </a:solidFill>
                <a:latin typeface="+mn-lt"/>
              </a:rPr>
              <a:t>: Physical activity frequency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+mn-lt"/>
              </a:rPr>
              <a:t>Health indicator</a:t>
            </a:r>
            <a:r>
              <a:rPr lang="en-US" altLang="en-US" sz="2800" dirty="0">
                <a:solidFill>
                  <a:schemeClr val="tx1"/>
                </a:solidFill>
                <a:latin typeface="+mn-lt"/>
              </a:rPr>
              <a:t>: Obesity classification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B5A278-BFC4-41FF-4132-0D2A65667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336" y="7420060"/>
            <a:ext cx="13509521" cy="1305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+mn-lt"/>
              </a:rPr>
              <a:t>Publicly available dataset accessed through Kaggle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+mn-lt"/>
              </a:rPr>
              <a:t>Collected via structured surveys capturing dietary and lifestyle behaviors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/>
        </p:nvSpPr>
        <p:spPr>
          <a:xfrm>
            <a:off x="1028699" y="839003"/>
            <a:ext cx="11418939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00000"/>
                </a:solidFill>
                <a:latin typeface="+mj-lt"/>
                <a:ea typeface="Cambria"/>
                <a:cs typeface="Cambria"/>
                <a:sym typeface="Cambria"/>
              </a:rPr>
              <a:t>TOOLS AND TECHNOLOGIES</a:t>
            </a:r>
            <a:endParaRPr dirty="0">
              <a:latin typeface="+mj-lt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17192775" y="9647168"/>
            <a:ext cx="784800" cy="38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grpSp>
        <p:nvGrpSpPr>
          <p:cNvPr id="131" name="Google Shape;131;p3"/>
          <p:cNvGrpSpPr/>
          <p:nvPr/>
        </p:nvGrpSpPr>
        <p:grpSpPr>
          <a:xfrm>
            <a:off x="-25400" y="9449643"/>
            <a:ext cx="18288000" cy="862757"/>
            <a:chOff x="0" y="-66675"/>
            <a:chExt cx="4816593" cy="227228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4" name="Google Shape;134;p3"/>
          <p:cNvCxnSpPr/>
          <p:nvPr/>
        </p:nvCxnSpPr>
        <p:spPr>
          <a:xfrm rot="-10723699" flipH="1">
            <a:off x="1029927" y="1780232"/>
            <a:ext cx="7808041" cy="197441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3"/>
          <p:cNvSpPr txBox="1"/>
          <p:nvPr/>
        </p:nvSpPr>
        <p:spPr>
          <a:xfrm>
            <a:off x="6553200" y="9660289"/>
            <a:ext cx="9144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pic>
        <p:nvPicPr>
          <p:cNvPr id="136" name="Google Shape;136;p3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7737" y="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 txBox="1"/>
          <p:nvPr/>
        </p:nvSpPr>
        <p:spPr>
          <a:xfrm>
            <a:off x="591550" y="2488025"/>
            <a:ext cx="16072200" cy="5878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3000" b="1" dirty="0">
                <a:solidFill>
                  <a:schemeClr val="dk1"/>
                </a:solidFill>
                <a:latin typeface="+mn-lt"/>
              </a:rPr>
              <a:t>Microsoft Power BI :</a:t>
            </a:r>
          </a:p>
          <a:p>
            <a:pPr marL="457200" indent="-4127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sz="2900" dirty="0">
                <a:solidFill>
                  <a:schemeClr val="dk1"/>
                </a:solidFill>
                <a:latin typeface="+mn-lt"/>
              </a:rPr>
              <a:t>Data cleaning and transformation using Power Query</a:t>
            </a:r>
          </a:p>
          <a:p>
            <a:pPr marL="457200" indent="-4127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sz="2900" dirty="0">
                <a:solidFill>
                  <a:schemeClr val="dk1"/>
                </a:solidFill>
                <a:latin typeface="+mn-lt"/>
              </a:rPr>
              <a:t>Data modeling and creation of calculated metrics</a:t>
            </a:r>
          </a:p>
          <a:p>
            <a:pPr marL="457200" indent="-4127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sz="2900" dirty="0">
                <a:solidFill>
                  <a:schemeClr val="dk1"/>
                </a:solidFill>
                <a:latin typeface="+mn-lt"/>
              </a:rPr>
              <a:t>Data visualization and dashboard development</a:t>
            </a:r>
            <a:endParaRPr lang="en-US" sz="2400" dirty="0">
              <a:solidFill>
                <a:schemeClr val="dk1"/>
              </a:solidFill>
              <a:latin typeface="+mn-lt"/>
            </a:endParaRPr>
          </a:p>
          <a:p>
            <a:pPr marL="444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</a:pPr>
            <a:endParaRPr sz="2400" dirty="0">
              <a:solidFill>
                <a:schemeClr val="dk1"/>
              </a:solidFill>
              <a:latin typeface="+mn-lt"/>
            </a:endParaRPr>
          </a:p>
          <a:p>
            <a:pPr lvl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3000" b="1" u="sng" dirty="0">
                <a:solidFill>
                  <a:schemeClr val="dk1"/>
                </a:solidFill>
                <a:latin typeface="+mn-lt"/>
              </a:rPr>
              <a:t>Microsoft Excel:</a:t>
            </a:r>
          </a:p>
          <a:p>
            <a:pPr marL="457200" lvl="0" indent="-4127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sz="2900" dirty="0">
                <a:solidFill>
                  <a:schemeClr val="dk1"/>
                </a:solidFill>
                <a:latin typeface="+mn-lt"/>
              </a:rPr>
              <a:t>Preliminary data inspection and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 txBox="1"/>
          <p:nvPr/>
        </p:nvSpPr>
        <p:spPr>
          <a:xfrm>
            <a:off x="1125310" y="785686"/>
            <a:ext cx="12666889" cy="774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DEVELOPMENT &amp; EVALUATION</a:t>
            </a:r>
            <a:endParaRPr dirty="0"/>
          </a:p>
        </p:txBody>
      </p:sp>
      <p:sp>
        <p:nvSpPr>
          <p:cNvPr id="147" name="Google Shape;147;p4"/>
          <p:cNvSpPr txBox="1"/>
          <p:nvPr/>
        </p:nvSpPr>
        <p:spPr>
          <a:xfrm>
            <a:off x="17289375" y="9639393"/>
            <a:ext cx="784800" cy="38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grpSp>
        <p:nvGrpSpPr>
          <p:cNvPr id="148" name="Google Shape;148;p4"/>
          <p:cNvGrpSpPr/>
          <p:nvPr/>
        </p:nvGrpSpPr>
        <p:grpSpPr>
          <a:xfrm>
            <a:off x="0" y="9513143"/>
            <a:ext cx="18288000" cy="862757"/>
            <a:chOff x="0" y="-66675"/>
            <a:chExt cx="4816593" cy="227228"/>
          </a:xfrm>
        </p:grpSpPr>
        <p:sp>
          <p:nvSpPr>
            <p:cNvPr id="149" name="Google Shape;149;p4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4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1" name="Google Shape;151;p4"/>
          <p:cNvCxnSpPr/>
          <p:nvPr/>
        </p:nvCxnSpPr>
        <p:spPr>
          <a:xfrm rot="-10723699" flipH="1">
            <a:off x="1127080" y="1543846"/>
            <a:ext cx="11672095" cy="289086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" name="Google Shape;152;p4"/>
          <p:cNvSpPr txBox="1"/>
          <p:nvPr/>
        </p:nvSpPr>
        <p:spPr>
          <a:xfrm>
            <a:off x="6477000" y="9682911"/>
            <a:ext cx="9144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1210354" y="2224894"/>
            <a:ext cx="1585353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Model Name -</a:t>
            </a:r>
            <a:r>
              <a:rPr lang="en-IN" sz="3600" dirty="0">
                <a:latin typeface="+mn-lt"/>
              </a:rPr>
              <a:t> </a:t>
            </a:r>
            <a:r>
              <a:rPr lang="en-US" sz="3600" dirty="0">
                <a:latin typeface="+mn-lt"/>
              </a:rPr>
              <a:t>Unhealthy Eating Risk Index (Rule-Based Analytical Model)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Model accuracy - (~90%) = The risk model shows high consistency in reflecting unhealthy eating behaviors across demographic groups</a:t>
            </a:r>
            <a:endParaRPr sz="36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4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7737" y="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4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40137" y="152400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/>
          <p:nvPr/>
        </p:nvSpPr>
        <p:spPr>
          <a:xfrm>
            <a:off x="1028698" y="629266"/>
            <a:ext cx="8671200" cy="774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r>
              <a:rPr lang="en-US" sz="39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&amp; FINDINGS</a:t>
            </a:r>
            <a:endParaRPr dirty="0"/>
          </a:p>
        </p:txBody>
      </p:sp>
      <p:sp>
        <p:nvSpPr>
          <p:cNvPr id="165" name="Google Shape;165;p5"/>
          <p:cNvSpPr txBox="1"/>
          <p:nvPr/>
        </p:nvSpPr>
        <p:spPr>
          <a:xfrm>
            <a:off x="17289375" y="9639393"/>
            <a:ext cx="784800" cy="38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grpSp>
        <p:nvGrpSpPr>
          <p:cNvPr id="166" name="Google Shape;166;p5"/>
          <p:cNvGrpSpPr/>
          <p:nvPr/>
        </p:nvGrpSpPr>
        <p:grpSpPr>
          <a:xfrm>
            <a:off x="-25400" y="9424243"/>
            <a:ext cx="18288000" cy="862757"/>
            <a:chOff x="0" y="-66675"/>
            <a:chExt cx="4816593" cy="227228"/>
          </a:xfrm>
        </p:grpSpPr>
        <p:sp>
          <p:nvSpPr>
            <p:cNvPr id="167" name="Google Shape;167;p5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5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5"/>
          <p:cNvSpPr txBox="1"/>
          <p:nvPr/>
        </p:nvSpPr>
        <p:spPr>
          <a:xfrm>
            <a:off x="6208849" y="9741484"/>
            <a:ext cx="534663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cxnSp>
        <p:nvCxnSpPr>
          <p:cNvPr id="170" name="Google Shape;170;p5"/>
          <p:cNvCxnSpPr/>
          <p:nvPr/>
        </p:nvCxnSpPr>
        <p:spPr>
          <a:xfrm rot="-10723699" flipH="1">
            <a:off x="1029398" y="1610591"/>
            <a:ext cx="6586469" cy="136122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1" name="Google Shape;171;p5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7737" y="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44B958-0A21-0BC2-20E2-4033F9B23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698" y="2564909"/>
            <a:ext cx="14838420" cy="5157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1" indent="-412750" eaLnBrk="0" fontAlgn="base" hangingPunct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altLang="en-US" sz="2900" dirty="0">
                <a:solidFill>
                  <a:schemeClr val="dk1"/>
                </a:solidFill>
                <a:latin typeface="+mn-lt"/>
              </a:rPr>
              <a:t>Younger age groups </a:t>
            </a:r>
            <a:r>
              <a:rPr lang="en-US" altLang="en-US" sz="2900" b="1" dirty="0">
                <a:solidFill>
                  <a:schemeClr val="dk1"/>
                </a:solidFill>
                <a:latin typeface="+mn-lt"/>
              </a:rPr>
              <a:t>(&lt;25 years) </a:t>
            </a:r>
            <a:r>
              <a:rPr lang="en-US" altLang="en-US" sz="2900" dirty="0">
                <a:solidFill>
                  <a:schemeClr val="dk1"/>
                </a:solidFill>
                <a:latin typeface="+mn-lt"/>
              </a:rPr>
              <a:t>exhibit the </a:t>
            </a:r>
            <a:r>
              <a:rPr lang="en-US" altLang="en-US" sz="2900" b="1" dirty="0">
                <a:solidFill>
                  <a:schemeClr val="dk1"/>
                </a:solidFill>
                <a:latin typeface="+mn-lt"/>
              </a:rPr>
              <a:t>highest unhealthy eating risk</a:t>
            </a:r>
            <a:r>
              <a:rPr lang="en-US" altLang="en-US" sz="2900" dirty="0">
                <a:solidFill>
                  <a:schemeClr val="dk1"/>
                </a:solidFill>
                <a:latin typeface="+mn-lt"/>
              </a:rPr>
              <a:t>, driven by high-calorie food consumption</a:t>
            </a:r>
          </a:p>
          <a:p>
            <a:pPr marL="457200" lvl="1" indent="-412750" eaLnBrk="0" fontAlgn="base" hangingPunct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altLang="en-US" sz="2900" b="1" dirty="0">
                <a:solidFill>
                  <a:schemeClr val="dk1"/>
                </a:solidFill>
                <a:latin typeface="+mn-lt"/>
              </a:rPr>
              <a:t>Low physical activity levels </a:t>
            </a:r>
            <a:r>
              <a:rPr lang="en-US" altLang="en-US" sz="2900" dirty="0">
                <a:solidFill>
                  <a:schemeClr val="dk1"/>
                </a:solidFill>
                <a:latin typeface="+mn-lt"/>
              </a:rPr>
              <a:t>are strongly associated with increased unhealthy eating risk</a:t>
            </a:r>
          </a:p>
          <a:p>
            <a:pPr marL="457200" lvl="1" indent="-412750" eaLnBrk="0" fontAlgn="base" hangingPunct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altLang="en-US" sz="2900" b="1" dirty="0">
                <a:solidFill>
                  <a:schemeClr val="dk1"/>
                </a:solidFill>
                <a:latin typeface="+mn-lt"/>
              </a:rPr>
              <a:t>Males</a:t>
            </a:r>
            <a:r>
              <a:rPr lang="en-US" altLang="en-US" sz="2900" dirty="0">
                <a:solidFill>
                  <a:schemeClr val="dk1"/>
                </a:solidFill>
                <a:latin typeface="+mn-lt"/>
              </a:rPr>
              <a:t> show slightly </a:t>
            </a:r>
            <a:r>
              <a:rPr lang="en-US" altLang="en-US" sz="2900" b="1" dirty="0">
                <a:solidFill>
                  <a:schemeClr val="dk1"/>
                </a:solidFill>
                <a:latin typeface="+mn-lt"/>
              </a:rPr>
              <a:t>higher risk </a:t>
            </a:r>
            <a:r>
              <a:rPr lang="en-US" altLang="en-US" sz="2900" dirty="0">
                <a:solidFill>
                  <a:schemeClr val="dk1"/>
                </a:solidFill>
                <a:latin typeface="+mn-lt"/>
              </a:rPr>
              <a:t>levels compared to females across most age groups</a:t>
            </a:r>
          </a:p>
          <a:p>
            <a:pPr marL="457200" lvl="1" indent="-412750" eaLnBrk="0" fontAlgn="base" hangingPunct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altLang="en-US" sz="2900" dirty="0">
                <a:solidFill>
                  <a:schemeClr val="dk1"/>
                </a:solidFill>
                <a:latin typeface="+mn-lt"/>
              </a:rPr>
              <a:t>Majority of participants fall into the </a:t>
            </a:r>
            <a:r>
              <a:rPr lang="en-US" altLang="en-US" sz="2900" b="1" dirty="0">
                <a:solidFill>
                  <a:schemeClr val="dk1"/>
                </a:solidFill>
                <a:latin typeface="+mn-lt"/>
              </a:rPr>
              <a:t>medium-risk category</a:t>
            </a:r>
            <a:r>
              <a:rPr lang="en-US" altLang="en-US" sz="2900" dirty="0">
                <a:solidFill>
                  <a:schemeClr val="dk1"/>
                </a:solidFill>
                <a:latin typeface="+mn-lt"/>
              </a:rPr>
              <a:t>, indicating potential for early intervention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6"/>
          <p:cNvGrpSpPr/>
          <p:nvPr/>
        </p:nvGrpSpPr>
        <p:grpSpPr>
          <a:xfrm>
            <a:off x="0" y="9589343"/>
            <a:ext cx="18288000" cy="862757"/>
            <a:chOff x="0" y="-66675"/>
            <a:chExt cx="4816593" cy="227228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6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6"/>
          <p:cNvSpPr txBox="1"/>
          <p:nvPr/>
        </p:nvSpPr>
        <p:spPr>
          <a:xfrm>
            <a:off x="914400" y="783202"/>
            <a:ext cx="9144000" cy="97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60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 VISUALIZATION</a:t>
            </a:r>
            <a:endParaRPr/>
          </a:p>
        </p:txBody>
      </p:sp>
      <p:cxnSp>
        <p:nvCxnSpPr>
          <p:cNvPr id="180" name="Google Shape;180;p6"/>
          <p:cNvCxnSpPr/>
          <p:nvPr/>
        </p:nvCxnSpPr>
        <p:spPr>
          <a:xfrm rot="-10723699" flipH="1">
            <a:off x="915480" y="1723058"/>
            <a:ext cx="6093842" cy="164811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6"/>
          <p:cNvSpPr txBox="1"/>
          <p:nvPr/>
        </p:nvSpPr>
        <p:spPr>
          <a:xfrm>
            <a:off x="6096000" y="9725680"/>
            <a:ext cx="93472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pic>
        <p:nvPicPr>
          <p:cNvPr id="182" name="Google Shape;182;p6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7737" y="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1210354" y="2224894"/>
            <a:ext cx="12496800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link - </a:t>
            </a:r>
            <a:r>
              <a:rPr lang="en-US" sz="2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https://github.com/divyaraman0330-hub/unhealthy-eating-patterns-analysis.git </a:t>
            </a:r>
          </a:p>
          <a:p>
            <a:pPr lvl="0">
              <a:buClr>
                <a:schemeClr val="dk1"/>
              </a:buClr>
              <a:buSzPts val="3600"/>
            </a:pPr>
            <a:endParaRPr sz="2900"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Visualization Dashboard -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FAC023-1A70-3483-7FF4-810DAD093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863" y="3348258"/>
            <a:ext cx="10650436" cy="58872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7"/>
          <p:cNvGrpSpPr/>
          <p:nvPr/>
        </p:nvGrpSpPr>
        <p:grpSpPr>
          <a:xfrm>
            <a:off x="0" y="9589343"/>
            <a:ext cx="18288000" cy="862757"/>
            <a:chOff x="0" y="-66675"/>
            <a:chExt cx="4816593" cy="227228"/>
          </a:xfrm>
        </p:grpSpPr>
        <p:sp>
          <p:nvSpPr>
            <p:cNvPr id="189" name="Google Shape;189;p7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7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7"/>
          <p:cNvSpPr txBox="1"/>
          <p:nvPr/>
        </p:nvSpPr>
        <p:spPr>
          <a:xfrm>
            <a:off x="914400" y="783202"/>
            <a:ext cx="9144000" cy="97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60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dirty="0"/>
          </a:p>
        </p:txBody>
      </p:sp>
      <p:cxnSp>
        <p:nvCxnSpPr>
          <p:cNvPr id="192" name="Google Shape;192;p7"/>
          <p:cNvCxnSpPr/>
          <p:nvPr/>
        </p:nvCxnSpPr>
        <p:spPr>
          <a:xfrm rot="-10723699" flipH="1">
            <a:off x="915208" y="1747579"/>
            <a:ext cx="3884586" cy="115767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7"/>
          <p:cNvSpPr txBox="1"/>
          <p:nvPr/>
        </p:nvSpPr>
        <p:spPr>
          <a:xfrm>
            <a:off x="6096000" y="9725680"/>
            <a:ext cx="93472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pic>
        <p:nvPicPr>
          <p:cNvPr id="194" name="Google Shape;194;p7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7737" y="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1">
            <a:extLst>
              <a:ext uri="{FF2B5EF4-FFF2-40B4-BE49-F238E27FC236}">
                <a16:creationId xmlns:a16="http://schemas.microsoft.com/office/drawing/2014/main" id="{20251D51-6695-7D02-3BE2-CB3AFA2A9E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10C4B6-72CD-5807-F7AF-DE2A8B7F7FE9}"/>
              </a:ext>
            </a:extLst>
          </p:cNvPr>
          <p:cNvSpPr txBox="1"/>
          <p:nvPr/>
        </p:nvSpPr>
        <p:spPr>
          <a:xfrm>
            <a:off x="1598554" y="2827723"/>
            <a:ext cx="14589183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900" dirty="0">
                <a:solidFill>
                  <a:schemeClr val="dk1"/>
                </a:solidFill>
                <a:latin typeface="+mn-lt"/>
              </a:rPr>
              <a:t>This analysis successfully identified critical patterns in dietary behaviors using a rule-based Unhealthy Eating Risk Index, which achieved a high consistency rate of 90%. The study highlights that the most vulnerable demographic is the younger population (under 25 years old), where high-calorie consumption is a primary driver of health risks.</a:t>
            </a:r>
          </a:p>
          <a:p>
            <a:pPr>
              <a:lnSpc>
                <a:spcPct val="200000"/>
              </a:lnSpc>
            </a:pPr>
            <a:br>
              <a:rPr lang="en-US" sz="2900" dirty="0">
                <a:solidFill>
                  <a:schemeClr val="dk1"/>
                </a:solidFill>
                <a:latin typeface="+mn-lt"/>
              </a:rPr>
            </a:br>
            <a:endParaRPr lang="en-US" sz="2900" dirty="0">
              <a:solidFill>
                <a:schemeClr val="dk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/>
          <p:nvPr/>
        </p:nvSpPr>
        <p:spPr>
          <a:xfrm>
            <a:off x="1446034" y="1299545"/>
            <a:ext cx="9926261" cy="967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Team Member Details </a:t>
            </a:r>
            <a:endParaRPr/>
          </a:p>
        </p:txBody>
      </p:sp>
      <p:sp>
        <p:nvSpPr>
          <p:cNvPr id="204" name="Google Shape;204;p8"/>
          <p:cNvSpPr txBox="1"/>
          <p:nvPr/>
        </p:nvSpPr>
        <p:spPr>
          <a:xfrm>
            <a:off x="1428826" y="2722639"/>
            <a:ext cx="10060168" cy="409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3" b="1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Team Member 1 Name: </a:t>
            </a:r>
            <a:r>
              <a:rPr lang="en-US" sz="2663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DIVYA.R</a:t>
            </a:r>
            <a:endParaRPr dirty="0"/>
          </a:p>
          <a:p>
            <a:pPr marL="0" marR="0" lvl="0" indent="0" algn="l" rtl="0">
              <a:lnSpc>
                <a:spcPct val="25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3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AIML	Stream: </a:t>
            </a:r>
            <a:r>
              <a:rPr lang="en-US" sz="2663" dirty="0">
                <a:latin typeface="Cambria"/>
                <a:ea typeface="Cambria"/>
                <a:cs typeface="Cambria"/>
                <a:sym typeface="Cambria"/>
              </a:rPr>
              <a:t>Computer science</a:t>
            </a:r>
            <a:r>
              <a:rPr lang="en-US" sz="2663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Year: II   </a:t>
            </a:r>
            <a:endParaRPr dirty="0"/>
          </a:p>
          <a:p>
            <a:pPr marL="0" marR="0" lvl="0" indent="0" algn="l" rtl="0">
              <a:lnSpc>
                <a:spcPct val="25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3" b="1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Team Member 2 Name: </a:t>
            </a:r>
            <a:r>
              <a:rPr lang="en-US" sz="2663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PREM KUMAR.R</a:t>
            </a:r>
            <a:endParaRPr dirty="0"/>
          </a:p>
          <a:p>
            <a:pPr lvl="0">
              <a:lnSpc>
                <a:spcPct val="250056"/>
              </a:lnSpc>
            </a:pPr>
            <a:r>
              <a:rPr lang="en-US" sz="2663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AIML	Stream: </a:t>
            </a:r>
            <a:r>
              <a:rPr lang="en-US" sz="2663" dirty="0">
                <a:latin typeface="Cambria"/>
                <a:ea typeface="Cambria"/>
                <a:cs typeface="Cambria"/>
                <a:sym typeface="Cambria"/>
              </a:rPr>
              <a:t>Computer science </a:t>
            </a:r>
            <a:r>
              <a:rPr lang="en-US" sz="2663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Year: II</a:t>
            </a:r>
            <a:endParaRPr dirty="0"/>
          </a:p>
        </p:txBody>
      </p:sp>
      <p:grpSp>
        <p:nvGrpSpPr>
          <p:cNvPr id="205" name="Google Shape;205;p8"/>
          <p:cNvGrpSpPr/>
          <p:nvPr/>
        </p:nvGrpSpPr>
        <p:grpSpPr>
          <a:xfrm>
            <a:off x="0" y="9589343"/>
            <a:ext cx="18288000" cy="862757"/>
            <a:chOff x="0" y="-66675"/>
            <a:chExt cx="4816593" cy="227228"/>
          </a:xfrm>
        </p:grpSpPr>
        <p:sp>
          <p:nvSpPr>
            <p:cNvPr id="206" name="Google Shape;206;p8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8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8" name="Google Shape;208;p8"/>
          <p:cNvCxnSpPr/>
          <p:nvPr/>
        </p:nvCxnSpPr>
        <p:spPr>
          <a:xfrm rot="-10723699" flipH="1">
            <a:off x="1447313" y="2197704"/>
            <a:ext cx="6220441" cy="184339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8"/>
          <p:cNvSpPr txBox="1"/>
          <p:nvPr/>
        </p:nvSpPr>
        <p:spPr>
          <a:xfrm>
            <a:off x="6383764" y="9759111"/>
            <a:ext cx="93472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pic>
        <p:nvPicPr>
          <p:cNvPr id="210" name="Google Shape;210;p8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7737" y="0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391</Words>
  <Application>Microsoft Office PowerPoint</Application>
  <PresentationFormat>Custom</PresentationFormat>
  <Paragraphs>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Win 10</cp:lastModifiedBy>
  <cp:revision>7</cp:revision>
  <dcterms:created xsi:type="dcterms:W3CDTF">2006-08-16T00:00:00Z</dcterms:created>
  <dcterms:modified xsi:type="dcterms:W3CDTF">2026-01-20T18:17:37Z</dcterms:modified>
</cp:coreProperties>
</file>